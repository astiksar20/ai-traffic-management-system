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2285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>
                <a:solidFill>
                  <a:srgbClr val="FFFFFF"/>
                </a:solidFill>
                <a:latin typeface="Berlin Sans FB Demi" panose="020E0802020502020306" pitchFamily="34" charset="0"/>
              </a:rPr>
              <a:t>AI-Powered Adaptive Traffic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920" y="1124262"/>
            <a:ext cx="957871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endParaRPr lang="en-IN" dirty="0">
              <a:solidFill>
                <a:srgbClr val="FFFFFF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     An Edge-Enabled Cyber-Physical System for  Congestion analysis </a:t>
            </a:r>
          </a:p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                           and Intelligent Signal Control</a:t>
            </a:r>
          </a:p>
          <a:p>
            <a:endParaRPr lang="en-IN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sz="2000" b="1" dirty="0">
                <a:solidFill>
                  <a:schemeClr val="bg1"/>
                </a:solidFill>
                <a:highlight>
                  <a:srgbClr val="00FF00"/>
                </a:highlight>
                <a:latin typeface="Arial Black" panose="020B0A04020102020204" pitchFamily="34" charset="0"/>
              </a:rPr>
              <a:t>   Track :   Open Innovation in Mobility</a:t>
            </a:r>
          </a:p>
          <a:p>
            <a:endParaRPr lang="en-IN" sz="2000" b="1" dirty="0">
              <a:solidFill>
                <a:schemeClr val="bg1"/>
              </a:solidFill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   Team Name 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 </a:t>
            </a:r>
            <a:r>
              <a:rPr lang="en-IN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CAPSLOCK CREW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   TEAM MEMBERS 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IN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ASTIK SARKAR ;AARUSH ABHILASH</a:t>
            </a:r>
          </a:p>
          <a:p>
            <a:endParaRPr lang="en-IN" b="1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INSTITUTE</a:t>
            </a:r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</a:t>
            </a:r>
            <a:r>
              <a:rPr lang="en-IN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VELLORE INSTITUTE OF TECHNOLOGY</a:t>
            </a:r>
          </a:p>
          <a:p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IN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dirty="0">
                <a:highlight>
                  <a:srgbClr val="800000"/>
                </a:highlight>
                <a:latin typeface="Bahnschrift" panose="020B0502040204020203" pitchFamily="34" charset="0"/>
              </a:rPr>
              <a:t>Optimizing Urban Traffic Flow through Artificial Intelligence, Edge Computing,</a:t>
            </a:r>
          </a:p>
          <a:p>
            <a:r>
              <a:rPr lang="en-IN" dirty="0">
                <a:highlight>
                  <a:srgbClr val="800000"/>
                </a:highlight>
                <a:latin typeface="Bahnschrift" panose="020B0502040204020203" pitchFamily="34" charset="0"/>
              </a:rPr>
              <a:t>and Cyber-Physical Systems</a:t>
            </a:r>
            <a:endParaRPr lang="en-IN" b="1" dirty="0">
              <a:solidFill>
                <a:schemeClr val="bg1"/>
              </a:solidFill>
              <a:highlight>
                <a:srgbClr val="800000"/>
              </a:highlight>
              <a:latin typeface="Bahnschrift" panose="020B0502040204020203" pitchFamily="34" charset="0"/>
            </a:endParaRPr>
          </a:p>
          <a:p>
            <a:endParaRPr sz="1800" dirty="0">
              <a:solidFill>
                <a:srgbClr val="FFFFFF"/>
              </a:solidFill>
            </a:endParaRPr>
          </a:p>
          <a:p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287463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highlight>
                  <a:srgbClr val="808000"/>
                </a:highlight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38"/>
            <a:ext cx="91440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FF00"/>
                </a:highlight>
              </a:rPr>
              <a:t>Fixed-Time Traffic Signals :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Conventional signals operate on predefined timings regardless of actual traffic conditions. 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This leads to inefficient traffic management during varying traffic loads. </a:t>
            </a: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Traffic Congestion During Peak Hours:</a:t>
            </a:r>
            <a:endParaRPr lang="en-IN" sz="2000" dirty="0">
              <a:solidFill>
                <a:schemeClr val="bg2">
                  <a:lumMod val="25000"/>
                </a:schemeClr>
              </a:solidFill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High vehicle density causes long queues and increased delays at intersections. 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Congestion significantly impacts daily urban mobility. </a:t>
            </a: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Increased Fuel Consumption:</a:t>
            </a:r>
            <a:endParaRPr lang="en-IN" sz="2000" dirty="0">
              <a:solidFill>
                <a:schemeClr val="bg2">
                  <a:lumMod val="25000"/>
                </a:schemeClr>
              </a:solidFill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Prolonged idling at signals results in unnecessary fuel wastage. 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This contributes to higher operating costs and environmental pollution. </a:t>
            </a: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Longer Waiting Times:</a:t>
            </a:r>
            <a:endParaRPr lang="en-IN" sz="2000" dirty="0">
              <a:solidFill>
                <a:schemeClr val="bg2">
                  <a:lumMod val="25000"/>
                </a:schemeClr>
              </a:solidFill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Drivers experience excessive delays even when roads are relatively clear. 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Fixed signal timings fail to prioritize real-time traffic demand. </a:t>
            </a:r>
          </a:p>
          <a:p>
            <a:r>
              <a:rPr lang="en-IN" sz="2000" b="1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Lack of Real-Time Adaptation:</a:t>
            </a:r>
            <a:endParaRPr lang="en-IN" sz="2000" dirty="0">
              <a:solidFill>
                <a:schemeClr val="bg2">
                  <a:lumMod val="25000"/>
                </a:schemeClr>
              </a:solidFill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Existing systems cannot dynamically respond to changing traffic conditions. </a:t>
            </a:r>
          </a:p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This limits overall traffic flow efficiency and road utilization.</a:t>
            </a:r>
          </a:p>
          <a:p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79251"/>
            <a:ext cx="20201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u="sng" dirty="0">
                <a:solidFill>
                  <a:srgbClr val="FFFFFF"/>
                </a:solidFill>
                <a:highlight>
                  <a:srgbClr val="FF0000"/>
                </a:highlight>
                <a:latin typeface="Berlin Sans FB Demi" panose="020E0802020502020306" pitchFamily="34" charset="0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921" y="1335621"/>
            <a:ext cx="870928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highlight>
                  <a:srgbClr val="FFFF00"/>
                </a:highlight>
                <a:latin typeface="Berlin Sans FB Demi" panose="020E0802020502020306" pitchFamily="34" charset="0"/>
              </a:rPr>
              <a:t>Real-Time Vehicle Detection</a:t>
            </a:r>
            <a:endParaRPr lang="en-IN" sz="2400" dirty="0">
              <a:highlight>
                <a:srgbClr val="FFFF00"/>
              </a:highlight>
              <a:latin typeface="Berlin Sans FB Demi" panose="020E0802020502020306" pitchFamily="34" charset="0"/>
            </a:endParaRPr>
          </a:p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YOLOv8 detects vehicles such as cars, motorcycles, buses, and trucks from traffic video feeds. </a:t>
            </a:r>
          </a:p>
          <a:p>
            <a:r>
              <a:rPr lang="en-IN" sz="2400" b="1" dirty="0">
                <a:highlight>
                  <a:srgbClr val="FFFF00"/>
                </a:highlight>
                <a:latin typeface="Berlin Sans FB Demi" panose="020E0802020502020306" pitchFamily="34" charset="0"/>
              </a:rPr>
              <a:t>Dynamic Congestion Estimation</a:t>
            </a:r>
            <a:endParaRPr lang="en-IN" sz="2400" dirty="0">
              <a:highlight>
                <a:srgbClr val="FFFF00"/>
              </a:highlight>
              <a:latin typeface="Berlin Sans FB Demi" panose="020E0802020502020306" pitchFamily="34" charset="0"/>
            </a:endParaRPr>
          </a:p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Traffic conditions are evaluated using Vehicle Count, Occupancy Ratio, and Queue Depth. </a:t>
            </a:r>
          </a:p>
          <a:p>
            <a:r>
              <a:rPr lang="en-IN" sz="2400" b="1" dirty="0">
                <a:highlight>
                  <a:srgbClr val="FFFF00"/>
                </a:highlight>
                <a:latin typeface="Berlin Sans FB Demi" panose="020E0802020502020306" pitchFamily="34" charset="0"/>
              </a:rPr>
              <a:t>Adaptive Signal Timing</a:t>
            </a:r>
            <a:endParaRPr lang="en-IN" sz="2400" dirty="0">
              <a:highlight>
                <a:srgbClr val="FFFF00"/>
              </a:highlight>
              <a:latin typeface="Berlin Sans FB Demi" panose="020E0802020502020306" pitchFamily="34" charset="0"/>
            </a:endParaRPr>
          </a:p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Signal durations are adjusted dynamically based on congestion levels rather than fixed schedules. </a:t>
            </a:r>
          </a:p>
          <a:p>
            <a:r>
              <a:rPr lang="en-IN" sz="2400" b="1" dirty="0">
                <a:highlight>
                  <a:srgbClr val="FFFF00"/>
                </a:highlight>
                <a:latin typeface="Berlin Sans FB Demi" panose="020E0802020502020306" pitchFamily="34" charset="0"/>
              </a:rPr>
              <a:t>Cyber-Physical Architecture</a:t>
            </a:r>
            <a:endParaRPr lang="en-IN" sz="2400" dirty="0">
              <a:highlight>
                <a:srgbClr val="FFFF00"/>
              </a:highlight>
              <a:latin typeface="Berlin Sans FB Demi" panose="020E0802020502020306" pitchFamily="34" charset="0"/>
            </a:endParaRPr>
          </a:p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Integrates AI-based traffic analysis with a physical traffic signal controller for automated decision-making. </a:t>
            </a:r>
          </a:p>
          <a:p>
            <a:r>
              <a:rPr lang="en-IN" sz="2400" b="1" dirty="0">
                <a:highlight>
                  <a:srgbClr val="FFFF00"/>
                </a:highlight>
                <a:latin typeface="Berlin Sans FB Demi" panose="020E0802020502020306" pitchFamily="34" charset="0"/>
              </a:rPr>
              <a:t>Scalable Smart-City Deployment</a:t>
            </a:r>
            <a:endParaRPr lang="en-IN" sz="2400" dirty="0">
              <a:highlight>
                <a:srgbClr val="FFFF00"/>
              </a:highlight>
              <a:latin typeface="Berlin Sans FB Demi" panose="020E0802020502020306" pitchFamily="34" charset="0"/>
            </a:endParaRPr>
          </a:p>
          <a:p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31133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u="sng" dirty="0">
                <a:solidFill>
                  <a:srgbClr val="FFFFFF"/>
                </a:solidFill>
                <a:highlight>
                  <a:srgbClr val="FF0000"/>
                </a:highlight>
                <a:latin typeface="Berlin Sans FB Demi" panose="020E0802020502020306" pitchFamily="34" charset="0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232843" cy="5940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000" u="sng" dirty="0">
                <a:solidFill>
                  <a:srgbClr val="FFFFFF"/>
                </a:solidFill>
              </a:rPr>
              <a:t>Traffic Video Feed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Dynamic ROI Selection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YOLOv8 Vehicle Detectio</a:t>
            </a:r>
            <a:r>
              <a:rPr lang="en-IN" sz="2000" dirty="0">
                <a:solidFill>
                  <a:srgbClr val="FFFFFF"/>
                </a:solidFill>
              </a:rPr>
              <a:t>n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Vehicle Count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Occupancy Ratio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Queue Depth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Exponential Smoothing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Congestion Analysis Engine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HIGH / LOW Classification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Arduino Communication (Serial Communication)</a:t>
            </a:r>
          </a:p>
          <a:p>
            <a:r>
              <a:rPr lang="en-IN" sz="2000" dirty="0">
                <a:solidFill>
                  <a:srgbClr val="FFFFFF"/>
                </a:solidFill>
              </a:rPr>
              <a:t>        ↓</a:t>
            </a:r>
          </a:p>
          <a:p>
            <a:r>
              <a:rPr lang="en-IN" sz="2000" u="sng" dirty="0">
                <a:solidFill>
                  <a:srgbClr val="FFFFFF"/>
                </a:solidFill>
              </a:rPr>
              <a:t>Adaptive Traffic Signal Control</a:t>
            </a:r>
            <a:endParaRPr sz="2000" u="sng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387503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highlight>
                  <a:srgbClr val="00FF00"/>
                </a:highlight>
              </a:rPr>
              <a:t>ROI-Based Traffic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921" y="1005840"/>
            <a:ext cx="902407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u="sng" dirty="0">
                <a:solidFill>
                  <a:srgbClr val="FFFFFF"/>
                </a:solidFill>
              </a:rPr>
              <a:t>•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u="sng" dirty="0">
                <a:solidFill>
                  <a:srgbClr val="FFFFFF"/>
                </a:solidFill>
              </a:rPr>
              <a:t>Dynamic ROI selection</a:t>
            </a:r>
          </a:p>
          <a:p>
            <a:r>
              <a:rPr sz="2000" u="sng" dirty="0">
                <a:solidFill>
                  <a:srgbClr val="FFFFFF"/>
                </a:solidFill>
              </a:rPr>
              <a:t>• Adaptable to different roads and camera angles</a:t>
            </a:r>
          </a:p>
          <a:p>
            <a:r>
              <a:rPr sz="2000" u="sng" dirty="0">
                <a:solidFill>
                  <a:srgbClr val="FFFFFF"/>
                </a:solidFill>
              </a:rPr>
              <a:t>• Virtual signal reference line</a:t>
            </a:r>
          </a:p>
          <a:p>
            <a:r>
              <a:rPr sz="2000" u="sng" dirty="0">
                <a:solidFill>
                  <a:srgbClr val="FFFFFF"/>
                </a:solidFill>
              </a:rPr>
              <a:t>• Focused traffic analysis</a:t>
            </a:r>
          </a:p>
          <a:p>
            <a:r>
              <a:rPr sz="2000" u="sng" dirty="0">
                <a:solidFill>
                  <a:srgbClr val="FFFFFF"/>
                </a:solidFill>
              </a:rPr>
              <a:t>• Reduced computational overhead</a:t>
            </a:r>
            <a:endParaRPr lang="en-US" sz="2000" u="sng" dirty="0">
              <a:solidFill>
                <a:srgbClr val="FFFFFF"/>
              </a:solidFill>
            </a:endParaRPr>
          </a:p>
          <a:p>
            <a:r>
              <a:rPr lang="en-IN" sz="2000" u="sng" dirty="0">
                <a:solidFill>
                  <a:srgbClr val="FFFFFF"/>
                </a:solidFill>
              </a:rPr>
              <a:t>                                                                         </a:t>
            </a:r>
          </a:p>
          <a:p>
            <a:endParaRPr lang="en-US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r>
              <a:rPr lang="en-IN" sz="2000" u="sng" dirty="0">
                <a:solidFill>
                  <a:srgbClr val="FFFFFF"/>
                </a:solidFill>
              </a:rPr>
              <a:t>  </a:t>
            </a: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IN" sz="2000" u="sng" dirty="0">
              <a:solidFill>
                <a:srgbClr val="FFFFFF"/>
              </a:solidFill>
            </a:endParaRPr>
          </a:p>
          <a:p>
            <a:endParaRPr lang="en-US" sz="2000" u="sng" dirty="0">
              <a:solidFill>
                <a:srgbClr val="FFFFFF"/>
              </a:solidFill>
            </a:endParaRPr>
          </a:p>
          <a:p>
            <a:r>
              <a:rPr lang="en-US" sz="2000" u="sng" dirty="0">
                <a:solidFill>
                  <a:srgbClr val="FFFFFF"/>
                </a:solidFill>
              </a:rPr>
              <a:t>(this is generally before the start of the processing of the video)</a:t>
            </a:r>
            <a:endParaRPr sz="2000" u="sng" dirty="0">
              <a:solidFill>
                <a:srgbClr val="FFFFFF"/>
              </a:solidFill>
            </a:endParaRPr>
          </a:p>
          <a:p>
            <a:endParaRPr sz="1800" dirty="0">
              <a:solidFill>
                <a:srgbClr val="FFFFFF"/>
              </a:solidFill>
            </a:endParaRPr>
          </a:p>
          <a:p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BB369-E64B-280F-60C3-75382C675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7" y="2903666"/>
            <a:ext cx="3981388" cy="294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BD88D1-C0B5-6E6F-74EF-BFF25CCBC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942" y="2903666"/>
            <a:ext cx="4566137" cy="2783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479580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highlight>
                  <a:srgbClr val="FF0000"/>
                </a:highlight>
              </a:rPr>
              <a:t>AI Detection &amp; Traffic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200" y="1005840"/>
            <a:ext cx="8940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FFFFFF"/>
                </a:solidFill>
              </a:rPr>
              <a:t>YOLOv8 detects Cars, Motorcycles, Buses and Trucks.</a:t>
            </a:r>
          </a:p>
          <a:p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Parameters:</a:t>
            </a:r>
          </a:p>
          <a:p>
            <a:r>
              <a:rPr sz="1800" dirty="0">
                <a:solidFill>
                  <a:srgbClr val="FFFFFF"/>
                </a:solidFill>
              </a:rPr>
              <a:t>• Vehicle Count</a:t>
            </a:r>
            <a:r>
              <a:rPr lang="en-US" sz="1800" dirty="0">
                <a:solidFill>
                  <a:srgbClr val="FFFFFF"/>
                </a:solidFill>
              </a:rPr>
              <a:t>-</a:t>
            </a: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Occupancy Ratio</a:t>
            </a:r>
            <a:r>
              <a:rPr lang="en-US" sz="1800" dirty="0">
                <a:solidFill>
                  <a:srgbClr val="FFFFFF"/>
                </a:solidFill>
              </a:rPr>
              <a:t>-</a:t>
            </a: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Queue Depth</a:t>
            </a:r>
            <a:r>
              <a:rPr lang="en-US" sz="1800" dirty="0">
                <a:solidFill>
                  <a:srgbClr val="FFFFFF"/>
                </a:solidFill>
              </a:rPr>
              <a:t>-</a:t>
            </a:r>
            <a:endParaRPr sz="1800" dirty="0">
              <a:solidFill>
                <a:srgbClr val="FFFFFF"/>
              </a:solidFill>
            </a:endParaRPr>
          </a:p>
          <a:p>
            <a:endParaRPr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                                                                                              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sz="1800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Data set1/video1(high congestion)                                           Data set2/video2(low congestion)</a:t>
            </a: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39F55-55C5-E354-4D32-5815CC4B1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20825"/>
            <a:ext cx="4746024" cy="3131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551990-CCD8-7E63-6CB1-A9424E7BC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784" y="3314164"/>
            <a:ext cx="4041159" cy="2708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42146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highlight>
                  <a:srgbClr val="FF0000"/>
                </a:highlight>
                <a:latin typeface="Berlin Sans FB Demi" panose="020E0802020502020306" pitchFamily="34" charset="0"/>
              </a:rPr>
              <a:t>Congestion 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362773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highlight>
                  <a:srgbClr val="00FF00"/>
                </a:highlight>
              </a:rPr>
              <a:t>Multi-Parameter Congestion Model</a:t>
            </a:r>
            <a:endParaRPr lang="en-IN" sz="2000" u="sng" dirty="0"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Instead of relying only on vehicle count, the system evaluates congestion using three</a:t>
            </a:r>
          </a:p>
          <a:p>
            <a:r>
              <a:rPr lang="en-IN" sz="2000" dirty="0">
                <a:solidFill>
                  <a:schemeClr val="bg1"/>
                </a:solidFill>
              </a:rPr>
              <a:t> complementary traffic indicators: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Occupancy Ratio (40%)</a:t>
            </a:r>
            <a:endParaRPr lang="en-IN" sz="2000" dirty="0"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Measures the proportion of road space occupied by vehicles.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Reflects traffic density and road utilization. 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Queue Depth (40%)</a:t>
            </a:r>
            <a:endParaRPr lang="en-IN" sz="2000" dirty="0"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Estimates how far the traffic queue extends from the signal reference line.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Indicates the severity of congestion and waiting conditions. 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Vehicle Count (20%)</a:t>
            </a:r>
            <a:endParaRPr lang="en-IN" sz="2000" dirty="0"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Represents the total number of detected vehicles within the ROI.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Provides supporting information but does not fully represent congestion alone. 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Why This Weight Distribution?</a:t>
            </a:r>
          </a:p>
          <a:p>
            <a:r>
              <a:rPr lang="en-IN" sz="2000" dirty="0">
                <a:solidFill>
                  <a:schemeClr val="bg1"/>
                </a:solidFill>
              </a:rPr>
              <a:t>Vehicle count alone can be misleading because many vehicles may still be moving</a:t>
            </a:r>
          </a:p>
          <a:p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smoothl</a:t>
            </a:r>
            <a:r>
              <a:rPr lang="en-IN" sz="2000" dirty="0">
                <a:solidFill>
                  <a:schemeClr val="bg1"/>
                </a:solidFill>
              </a:rPr>
              <a:t>y. Occupancy Ratio captures traffic density.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Queue Depth captures the extent of traffic buildup.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Giving higher importance to Occupancy Ratio and Queue Depth provides a more </a:t>
            </a:r>
            <a:r>
              <a:rPr lang="en-IN" dirty="0">
                <a:solidFill>
                  <a:schemeClr val="bg1"/>
                </a:solidFill>
              </a:rPr>
              <a:t>realistic 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representation of actual congestion conditions.</a:t>
            </a:r>
          </a:p>
          <a:p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34272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highlight>
                  <a:srgbClr val="FF0000"/>
                </a:highlight>
              </a:rPr>
              <a:t>Adaptive Signal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Analysis Phase</a:t>
            </a:r>
          </a:p>
          <a:p>
            <a:r>
              <a:rPr lang="en-IN" dirty="0"/>
              <a:t>🟢 </a:t>
            </a:r>
            <a:r>
              <a:rPr lang="en-IN" b="1" dirty="0">
                <a:highlight>
                  <a:srgbClr val="FFFF00"/>
                </a:highlight>
              </a:rPr>
              <a:t>Continuous Green Signal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solidFill>
                  <a:schemeClr val="bg1"/>
                </a:solidFill>
              </a:rPr>
              <a:t>While ROI selection, vehicle detection, and congestion analysis are being performed, the signal remains GREEN. </a:t>
            </a:r>
          </a:p>
          <a:p>
            <a:r>
              <a:rPr lang="en-IN" dirty="0">
                <a:solidFill>
                  <a:schemeClr val="bg1"/>
                </a:solidFill>
              </a:rPr>
              <a:t>This indicates that the AI system is actively processing traffic data and no final congestion decision has yet been made. </a:t>
            </a:r>
          </a:p>
          <a:p>
            <a:r>
              <a:rPr lang="en-IN" dirty="0">
                <a:solidFill>
                  <a:schemeClr val="bg1"/>
                </a:solidFill>
              </a:rPr>
              <a:t>It ensures uninterrupted traffic flow during the analysis stage.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sz="1800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450F2B-03BF-227E-2DEA-0C9FB7A6B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056163"/>
              </p:ext>
            </p:extLst>
          </p:nvPr>
        </p:nvGraphicFramePr>
        <p:xfrm>
          <a:off x="1480457" y="3149600"/>
          <a:ext cx="7206343" cy="3570516"/>
        </p:xfrm>
        <a:graphic>
          <a:graphicData uri="http://schemas.openxmlformats.org/drawingml/2006/table">
            <a:tbl>
              <a:tblPr/>
              <a:tblGrid>
                <a:gridCol w="3609410">
                  <a:extLst>
                    <a:ext uri="{9D8B030D-6E8A-4147-A177-3AD203B41FA5}">
                      <a16:colId xmlns:a16="http://schemas.microsoft.com/office/drawing/2014/main" val="883031273"/>
                    </a:ext>
                  </a:extLst>
                </a:gridCol>
                <a:gridCol w="3596933">
                  <a:extLst>
                    <a:ext uri="{9D8B030D-6E8A-4147-A177-3AD203B41FA5}">
                      <a16:colId xmlns:a16="http://schemas.microsoft.com/office/drawing/2014/main" val="1040537656"/>
                    </a:ext>
                  </a:extLst>
                </a:gridCol>
              </a:tblGrid>
              <a:tr h="47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LOW Congestion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HIGH Congestion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433423"/>
                  </a:ext>
                </a:extLst>
              </a:tr>
              <a:tr h="47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🔴 Red = 10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🔴 Red = 5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309729"/>
                  </a:ext>
                </a:extLst>
              </a:tr>
              <a:tr h="47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🟢 Green = 5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🟢 Green = 12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622507"/>
                  </a:ext>
                </a:extLst>
              </a:tr>
              <a:tr h="47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🟡 Yellow = 2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🟡 Yellow = 2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292963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Longer red duration due to lower traffic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Longer green duration to clear congestion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310874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Balanced signal allocation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Reduced waiting time and improved traffic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388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1257" y="0"/>
            <a:ext cx="8984343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r>
              <a:rPr lang="en-IN" sz="2400" b="1" dirty="0">
                <a:highlight>
                  <a:srgbClr val="00FF00"/>
                </a:highlight>
              </a:rPr>
              <a:t>Results</a:t>
            </a:r>
          </a:p>
          <a:p>
            <a:endParaRPr lang="en-IN" sz="2400" b="1" dirty="0">
              <a:highlight>
                <a:srgbClr val="00FF00"/>
              </a:highlight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Real-Time Vehicle Detection using YOLOv8 </a:t>
            </a:r>
          </a:p>
          <a:p>
            <a:r>
              <a:rPr lang="en-IN" sz="2000" dirty="0">
                <a:solidFill>
                  <a:schemeClr val="bg1"/>
                </a:solidFill>
              </a:rPr>
              <a:t>Dynamic Congestion Classification (HIGH / LOW) </a:t>
            </a:r>
          </a:p>
          <a:p>
            <a:r>
              <a:rPr lang="en-IN" sz="2000" dirty="0">
                <a:solidFill>
                  <a:schemeClr val="bg1"/>
                </a:solidFill>
              </a:rPr>
              <a:t>Adaptive Traffic Signal Control 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Continuous Traffic Monitoring and Analysis 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Innovation</a:t>
            </a:r>
          </a:p>
          <a:p>
            <a:r>
              <a:rPr lang="en-IN" sz="2000" dirty="0">
                <a:solidFill>
                  <a:schemeClr val="bg1"/>
                </a:solidFill>
              </a:rPr>
              <a:t>Dynamic ROI Selection for different road scenarios </a:t>
            </a:r>
          </a:p>
          <a:p>
            <a:r>
              <a:rPr lang="en-IN" sz="2000" dirty="0">
                <a:solidFill>
                  <a:schemeClr val="bg1"/>
                </a:solidFill>
              </a:rPr>
              <a:t>Multi-Parameter Congestion Analysis Engine </a:t>
            </a:r>
          </a:p>
          <a:p>
            <a:r>
              <a:rPr lang="en-IN" sz="2000" dirty="0">
                <a:solidFill>
                  <a:schemeClr val="bg1"/>
                </a:solidFill>
              </a:rPr>
              <a:t>AI + Cyber-Physical System Integration </a:t>
            </a:r>
          </a:p>
          <a:p>
            <a:r>
              <a:rPr lang="en-IN" sz="2000" dirty="0">
                <a:solidFill>
                  <a:schemeClr val="bg1"/>
                </a:solidFill>
              </a:rPr>
              <a:t>Edge Computing-Based Decision Making 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Real-Time Adaptive Signal Optimization </a:t>
            </a:r>
          </a:p>
          <a:p>
            <a:r>
              <a:rPr lang="en-IN" sz="2000" b="1" dirty="0">
                <a:highlight>
                  <a:srgbClr val="00FF00"/>
                </a:highlight>
              </a:rPr>
              <a:t>Impact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Reduced Traffic Congestion </a:t>
            </a:r>
          </a:p>
          <a:p>
            <a:r>
              <a:rPr lang="en-IN" sz="2000" dirty="0">
                <a:solidFill>
                  <a:schemeClr val="bg1"/>
                </a:solidFill>
              </a:rPr>
              <a:t>Reduced Vehicle Waiting Time </a:t>
            </a:r>
          </a:p>
          <a:p>
            <a:r>
              <a:rPr lang="en-IN" sz="2000" dirty="0">
                <a:solidFill>
                  <a:schemeClr val="bg1"/>
                </a:solidFill>
              </a:rPr>
              <a:t>Improved Traffic Flow Efficiency </a:t>
            </a:r>
          </a:p>
          <a:p>
            <a:r>
              <a:rPr lang="en-IN" sz="2000" dirty="0">
                <a:solidFill>
                  <a:schemeClr val="bg1"/>
                </a:solidFill>
              </a:rPr>
              <a:t>Better Road Utilization </a:t>
            </a:r>
          </a:p>
          <a:p>
            <a:r>
              <a:rPr lang="en-IN" sz="2000" dirty="0">
                <a:solidFill>
                  <a:schemeClr val="bg1"/>
                </a:solidFill>
              </a:rPr>
              <a:t>Foundation for Smart City Traffic Management</a:t>
            </a:r>
          </a:p>
          <a:p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490211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highlight>
                  <a:srgbClr val="808000"/>
                </a:highlight>
              </a:rPr>
              <a:t>Future Scope &amp; Business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647432" cy="75713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FFFFF"/>
                </a:solidFill>
              </a:rPr>
              <a:t>IoT Integration → Cloud Dashboard → Multi-Intersection Coordination → Smart City </a:t>
            </a:r>
            <a:endParaRPr lang="en-US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Deployment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IN" b="1" dirty="0">
                <a:highlight>
                  <a:srgbClr val="FFFF00"/>
                </a:highlight>
              </a:rPr>
              <a:t>Business Model &amp; Future Commercialization</a:t>
            </a:r>
          </a:p>
          <a:p>
            <a:r>
              <a:rPr lang="en-IN" b="1" dirty="0">
                <a:solidFill>
                  <a:schemeClr val="bg1"/>
                </a:solidFill>
              </a:rPr>
              <a:t>Smart Traffic Management as a Service (</a:t>
            </a:r>
            <a:r>
              <a:rPr lang="en-IN" b="1" dirty="0" err="1">
                <a:solidFill>
                  <a:schemeClr val="bg1"/>
                </a:solidFill>
              </a:rPr>
              <a:t>TMaaS</a:t>
            </a:r>
            <a:r>
              <a:rPr lang="en-IN" b="1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Deploy AI-powered traffic monitoring systems at intersections and urban road networks. </a:t>
            </a:r>
          </a:p>
          <a:p>
            <a:r>
              <a:rPr lang="en-IN" dirty="0">
                <a:solidFill>
                  <a:schemeClr val="bg1"/>
                </a:solidFill>
              </a:rPr>
              <a:t>Municipal corporations and smart city authorities can subscribe to the platform through</a:t>
            </a:r>
          </a:p>
          <a:p>
            <a:r>
              <a:rPr lang="en-IN" dirty="0">
                <a:solidFill>
                  <a:schemeClr val="bg1"/>
                </a:solidFill>
              </a:rPr>
              <a:t> annual service contracts. </a:t>
            </a:r>
          </a:p>
          <a:p>
            <a:r>
              <a:rPr lang="en-IN" dirty="0">
                <a:solidFill>
                  <a:schemeClr val="bg1"/>
                </a:solidFill>
              </a:rPr>
              <a:t>Revenue generated through software licensing, maintenance, and analytics services. 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Smart City &amp; Government Partnerships</a:t>
            </a:r>
          </a:p>
          <a:p>
            <a:r>
              <a:rPr lang="en-IN" dirty="0">
                <a:solidFill>
                  <a:schemeClr val="bg1"/>
                </a:solidFill>
              </a:rPr>
              <a:t>Partner with Smart City Missions, Municipal Corporations, and Traffic Police Departments. </a:t>
            </a:r>
          </a:p>
          <a:p>
            <a:r>
              <a:rPr lang="en-IN" dirty="0">
                <a:solidFill>
                  <a:schemeClr val="bg1"/>
                </a:solidFill>
              </a:rPr>
              <a:t>Provide real-time congestion monitoring and adaptive signal optimization. </a:t>
            </a:r>
          </a:p>
          <a:p>
            <a:r>
              <a:rPr lang="en-IN" dirty="0">
                <a:solidFill>
                  <a:schemeClr val="bg1"/>
                </a:solidFill>
              </a:rPr>
              <a:t>Reduce traffic delays, fuel wastage, and urban transportation inefficiencies. 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Cloud-Based Traffic Analytics Platform</a:t>
            </a:r>
          </a:p>
          <a:p>
            <a:r>
              <a:rPr lang="en-IN" dirty="0">
                <a:solidFill>
                  <a:schemeClr val="bg1"/>
                </a:solidFill>
              </a:rPr>
              <a:t>Aggregate traffic data from multiple intersections into a centralized dashboard. </a:t>
            </a:r>
          </a:p>
          <a:p>
            <a:r>
              <a:rPr lang="en-IN" dirty="0">
                <a:solidFill>
                  <a:schemeClr val="bg1"/>
                </a:solidFill>
              </a:rPr>
              <a:t>Offer traffic insights, congestion trends, peak-hour analysis, and infrastructure</a:t>
            </a:r>
          </a:p>
          <a:p>
            <a:r>
              <a:rPr lang="en-IN" dirty="0">
                <a:solidFill>
                  <a:schemeClr val="bg1"/>
                </a:solidFill>
              </a:rPr>
              <a:t> planning recommendations. Revenue through subscription-based analytics services. 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>
              <a:solidFill>
                <a:srgbClr val="FFFFFF"/>
              </a:solidFill>
            </a:endParaRPr>
          </a:p>
          <a:p>
            <a:endParaRPr lang="en-IN"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281B3-C775-2D53-D4B3-73329229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A50C2B-29DA-8A57-6239-33A4DC37D3BC}"/>
              </a:ext>
            </a:extLst>
          </p:cNvPr>
          <p:cNvSpPr txBox="1"/>
          <p:nvPr/>
        </p:nvSpPr>
        <p:spPr>
          <a:xfrm>
            <a:off x="365760" y="274320"/>
            <a:ext cx="490211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highlight>
                  <a:srgbClr val="808000"/>
                </a:highlight>
              </a:rPr>
              <a:t>Future Scope &amp; Business Potential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D1B32-8E37-3AB0-90CB-2B0720627682}"/>
              </a:ext>
            </a:extLst>
          </p:cNvPr>
          <p:cNvSpPr txBox="1"/>
          <p:nvPr/>
        </p:nvSpPr>
        <p:spPr>
          <a:xfrm>
            <a:off x="457200" y="1005840"/>
            <a:ext cx="8713667" cy="7602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200" b="1" dirty="0">
                <a:highlight>
                  <a:srgbClr val="00FF00"/>
                </a:highlight>
              </a:rPr>
              <a:t>Revenue Streams</a:t>
            </a:r>
          </a:p>
          <a:p>
            <a:r>
              <a:rPr lang="en-IN" sz="3200" dirty="0">
                <a:solidFill>
                  <a:schemeClr val="bg1"/>
                </a:solidFill>
              </a:rPr>
              <a:t>1)Government &amp; Smart City Contracts </a:t>
            </a:r>
          </a:p>
          <a:p>
            <a:r>
              <a:rPr lang="en-IN" sz="3200" dirty="0">
                <a:solidFill>
                  <a:schemeClr val="bg1"/>
                </a:solidFill>
              </a:rPr>
              <a:t>2)Annual Software Licensing </a:t>
            </a:r>
          </a:p>
          <a:p>
            <a:r>
              <a:rPr lang="en-IN" sz="3200" dirty="0">
                <a:solidFill>
                  <a:schemeClr val="bg1"/>
                </a:solidFill>
              </a:rPr>
              <a:t>3)Traffic Analytics Dashboard Subscriptions </a:t>
            </a:r>
          </a:p>
          <a:p>
            <a:r>
              <a:rPr lang="en-IN" sz="3200" dirty="0">
                <a:solidFill>
                  <a:schemeClr val="bg1"/>
                </a:solidFill>
              </a:rPr>
              <a:t>4)IoT Infrastructure Integration Services </a:t>
            </a:r>
          </a:p>
          <a:p>
            <a:r>
              <a:rPr lang="en-IN" sz="3200" dirty="0">
                <a:solidFill>
                  <a:schemeClr val="bg1"/>
                </a:solidFill>
              </a:rPr>
              <a:t>5)Maintenance &amp; Support Services </a:t>
            </a:r>
          </a:p>
          <a:p>
            <a:r>
              <a:rPr lang="en-IN" sz="3200" dirty="0">
                <a:solidFill>
                  <a:schemeClr val="bg1"/>
                </a:solidFill>
              </a:rPr>
              <a:t>6)Urban Mobility Data Insights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"Our long-term vision is to transform this prototype into a city-scale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AI-powered Traffic Management Platform that enables smarter, safer, and more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efficient urban mobility across India."</a:t>
            </a:r>
            <a:endParaRPr lang="en-IN" sz="2000" dirty="0">
              <a:solidFill>
                <a:schemeClr val="bg1"/>
              </a:solidFill>
            </a:endParaRPr>
          </a:p>
          <a:p>
            <a:endParaRPr lang="en-IN" sz="3200" dirty="0">
              <a:solidFill>
                <a:schemeClr val="bg1"/>
              </a:solidFill>
            </a:endParaRP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>
              <a:solidFill>
                <a:srgbClr val="FFFFFF"/>
              </a:solidFill>
            </a:endParaRPr>
          </a:p>
          <a:p>
            <a:endParaRPr lang="en-IN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5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980</Words>
  <Application>Microsoft Office PowerPoint</Application>
  <PresentationFormat>On-screen Show (4:3)</PresentationFormat>
  <Paragraphs>206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Arial Black</vt:lpstr>
      <vt:lpstr>Arial Rounded MT Bold</vt:lpstr>
      <vt:lpstr>Bahnschrift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Astik sarkar</dc:creator>
  <cp:keywords/>
  <dc:description>generated using python-pptx</dc:description>
  <cp:lastModifiedBy>Astik Sarkar</cp:lastModifiedBy>
  <cp:revision>2</cp:revision>
  <dcterms:created xsi:type="dcterms:W3CDTF">2013-01-27T09:14:16Z</dcterms:created>
  <dcterms:modified xsi:type="dcterms:W3CDTF">2026-06-15T22:39:50Z</dcterms:modified>
  <cp:category/>
</cp:coreProperties>
</file>